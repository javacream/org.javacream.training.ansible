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45A"/>
                </a:solidFill>
              </a:defRPr>
            </a:pPr>
            <a:r>
              <a:t>Die Ansible-Trainingsumgebung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514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C6570"/>
                </a:solidFill>
              </a:defRPr>
            </a:pPr>
            <a:r>
              <a:t>Teilnehmerpräsentation – Architektur, Bedienung und Arbeitsweise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1. 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C6570"/>
                </a:solidFill>
              </a:defRPr>
            </a:pPr>
            <a:r>
              <a:t>Eine Control Node, vier Managed Nodes und ein gemeinsames Docker-Netzwerk</a:t>
            </a:r>
          </a:p>
        </p:txBody>
      </p:sp>
      <p:pic>
        <p:nvPicPr>
          <p:cNvPr id="4" name="Picture 3" descr="a_clean_infographic_style_diagram_on_a_white_bac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201400" cy="746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Grundgedanke der Umgebung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0252B"/>
                </a:solidFill>
              </a:defRPr>
            </a:pPr>
            <a:r>
              <a:t>Die Managed Nodes starten technisch weitgehend gleich.</a:t>
            </a:r>
          </a:p>
          <a:p>
            <a:pPr>
              <a:spcAft>
                <a:spcPts val="800"/>
              </a:spcAft>
              <a:defRPr sz="2200">
                <a:solidFill>
                  <a:srgbClr val="20252B"/>
                </a:solidFill>
              </a:defRPr>
            </a:pPr>
            <a:r>
              <a:t>Ihre unterschiedlichen Aufgaben und Konfigurationen entstehen durch Ansible.</a:t>
            </a:r>
          </a:p>
          <a:p>
            <a:pPr>
              <a:spcAft>
                <a:spcPts val="800"/>
              </a:spcAft>
              <a:defRPr sz="2200">
                <a:solidFill>
                  <a:srgbClr val="20252B"/>
                </a:solidFill>
              </a:defRPr>
            </a:pPr>
            <a:r>
              <a:t>Docker stellt die Linux-Systeme bereit; Ansible übernimmt ihre Konfiguration.</a:t>
            </a:r>
          </a:p>
          <a:p>
            <a:pPr>
              <a:spcAft>
                <a:spcPts val="800"/>
              </a:spcAft>
              <a:defRPr sz="2200">
                <a:solidFill>
                  <a:srgbClr val="20252B"/>
                </a:solidFill>
              </a:defRPr>
            </a:pPr>
            <a:r>
              <a:t>Die Umgebung ist bewusst reproduzierbar und kann für Übungen zurückgesetzt werden.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2. Die Systeme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control – Ansible Control Node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web1 – Managed Node, vorgesehen als Webserver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web2 – Managed Node, vorgesehen als Webserver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db1 – Managed Node, vorgesehen als Datenbankserver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misc1 – Managed Node für weitere Übungen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Die Namen beschreiben die vorgesehene Rolle – die zugehörige Software ist anfangs noch nicht installiert.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3. Control Node und Managed Nodes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257800" cy="4709160"/>
          </a:xfrm>
          <a:prstGeom prst="roundRect">
            <a:avLst/>
          </a:prstGeom>
          <a:solidFill>
            <a:srgbClr val="F6F8FB"/>
          </a:solidFill>
          <a:ln>
            <a:solidFill>
              <a:srgbClr val="14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2763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345A"/>
                </a:solidFill>
              </a:defRPr>
            </a:pPr>
            <a:r>
              <a:t>Control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176272"/>
            <a:ext cx="4617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Ansible ist installiert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Ansible-Konfiguration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Inventory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Playbooks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SSH-Schlüssel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Ausgangspunkt der meisten Kommandos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257800" cy="4709160"/>
          </a:xfrm>
          <a:prstGeom prst="roundRect">
            <a:avLst/>
          </a:prstGeom>
          <a:solidFill>
            <a:srgbClr val="F6F8FB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62763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7841"/>
                </a:solidFill>
              </a:defRPr>
            </a:pPr>
            <a:r>
              <a:t>Managed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248" y="2176272"/>
            <a:ext cx="4617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web1, web2, db1, misc1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Ansible selbst ist nicht erforderlich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Zugriff über SSH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Python 3 für viele Module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systemd als Init-System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4. Trainingsumgebung starten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212080" cy="420624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500">
                <a:solidFill>
                  <a:srgbClr val="20252B"/>
                </a:solidFill>
                <a:latin typeface="DejaVu Sans Mono"/>
              </a:defRPr>
            </a:pPr>
            <a:r>
              <a:t># Linux / WSL</a:t>
            </a:r>
            <a:br/>
            <a:r>
              <a:t>chmod +x setup.sh reset.sh</a:t>
            </a:r>
            <a:br/>
            <a:r>
              <a:t>./setup.sh</a:t>
            </a:r>
            <a:br/>
            <a:br/>
            <a:r>
              <a:t># Windows PowerShell</a:t>
            </a:r>
            <a:br/>
            <a:r>
              <a:t>.\setup.ps1</a:t>
            </a:r>
            <a:br/>
            <a:br/>
            <a:r>
              <a:t># Zustand prüfen</a:t>
            </a:r>
            <a:br/>
            <a:r>
              <a:t>docker compose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Das Setup erzeugt den SSH-Schlüssel für die Trainingsumgebung.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Anschließend werden die Docker-Images gebaut und die Container gestartet.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Nach dem Start sollten control, web1, web2, db1 und misc1 laufen.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5. Auf der Control Node arbeiten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08760"/>
            <a:ext cx="4846320" cy="201168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700">
                <a:solidFill>
                  <a:srgbClr val="20252B"/>
                </a:solidFill>
                <a:latin typeface="DejaVu Sans Mono"/>
              </a:defRPr>
            </a:pPr>
            <a:r>
              <a:t>docker compose exec control bash</a:t>
            </a:r>
            <a:br/>
            <a:br/>
            <a:r>
              <a:t>pwd</a:t>
            </a:r>
            <a:br/>
            <a:r>
              <a:t># /training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5087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Ansible-Kommandos werden normalerweise innerhalb der Control Node ausgeführt.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Das Host-Verzeichnis ansible ist als /training eingebunden.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Änderungen an Inventory und Playbooks stehen dadurch sofort im Container zur Verfügung.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6. Das Inventory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4892040" cy="512064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250">
                <a:solidFill>
                  <a:srgbClr val="20252B"/>
                </a:solidFill>
                <a:latin typeface="DejaVu Sans Mono"/>
              </a:defRPr>
            </a:pPr>
            <a:r>
              <a:t>[webservers]</a:t>
            </a:r>
            <a:br/>
            <a:r>
              <a:t>web1</a:t>
            </a:r>
            <a:br/>
            <a:r>
              <a:t>web2</a:t>
            </a:r>
            <a:br/>
            <a:br/>
            <a:r>
              <a:t>[databases]</a:t>
            </a:r>
            <a:br/>
            <a:r>
              <a:t>db1</a:t>
            </a:r>
            <a:br/>
            <a:br/>
            <a:r>
              <a:t>[misc]</a:t>
            </a:r>
            <a:br/>
            <a:r>
              <a:t>misc1</a:t>
            </a:r>
            <a:br/>
            <a:br/>
            <a:r>
              <a:t>[linux:children]</a:t>
            </a:r>
            <a:br/>
            <a:r>
              <a:t>webservers</a:t>
            </a:r>
            <a:br/>
            <a:r>
              <a:t>databases</a:t>
            </a:r>
            <a:br/>
            <a:r>
              <a:t>misc</a:t>
            </a:r>
            <a:br/>
            <a:br/>
            <a:r>
              <a:t>[all:vars]</a:t>
            </a:r>
            <a:br/>
            <a:r>
              <a:t>ansible_user=ansible</a:t>
            </a:r>
            <a:br/>
            <a:r>
              <a:t>ansible_python_interpreter=/usr/bin/python3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150876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Hosts werden fachlichen Gruppen zugeordnet.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linux fasst webservers, databases und misc zusammen.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[all:vars] definiert SSH-Benutzer und Python-Interpreter zentral.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Struktur anzeigen: ansible-inventory --graph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7. Verbindung zu den Managed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Die Kommunikation zwischen Control Node und Managed Nodes erfolgt über SSH.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Das Setup erzeugt ein Ed25519-Schlüsselpaar.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Der private Schlüssel befindet sich auf der Control Node.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Der Public Key ist für den Benutzer ansible auf den Managed Nodes hinterlegt.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Für die normale Ansible-Arbeit ist deshalb keine Passwortabfrage erforderlich.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892040"/>
            <a:ext cx="9692640" cy="86868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600">
                <a:solidFill>
                  <a:srgbClr val="20252B"/>
                </a:solidFill>
                <a:latin typeface="DejaVu Sans Mono"/>
              </a:defRPr>
            </a:pPr>
            <a:r>
              <a:t>ssh ansible@web1</a:t>
            </a:r>
            <a:br/>
            <a:br/>
            <a:r>
              <a:t>ansible all -m 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8. Benutzer ansible und Privilege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Auf allen Managed Nodes existiert der Benutzer ansible.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Das Inventory legt ansible als Remote-Benutzer fest.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Der Benutzer besitzt sudo-Rechte.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-b aktiviert become bei Ad-hoc-Kommandos.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In Playbooks wird become mit become: true aktiviert.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600200"/>
            <a:ext cx="4754880" cy="237744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600">
                <a:solidFill>
                  <a:srgbClr val="20252B"/>
                </a:solidFill>
                <a:latin typeface="DejaVu Sans Mono"/>
              </a:defRPr>
            </a:pPr>
            <a:r>
              <a:t>ansible all -b -m command -a "id"</a:t>
            </a:r>
            <a:br/>
            <a:br/>
            <a:r>
              <a:t># Playbook</a:t>
            </a:r>
            <a:br/>
            <a:r>
              <a:t>become: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9. Erster Ansible-Test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C6570"/>
                </a:solidFill>
              </a:defRPr>
            </a:pPr>
            <a:r>
              <a:t>Der Ansible-Ping prüft mehr als reine Netzwerkerreichbarkeit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4206240" cy="77724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800">
                <a:solidFill>
                  <a:srgbClr val="20252B"/>
                </a:solidFill>
                <a:latin typeface="DejaVu Sans Mono"/>
              </a:defRPr>
            </a:pPr>
            <a:r>
              <a:t>ansible all -m 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Host ist erreichbar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SSH funktioniert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Authentifizierung funktioniert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Python kann auf dem Managed Node verwendet werden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17320"/>
            <a:ext cx="5120640" cy="228600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500">
                <a:solidFill>
                  <a:srgbClr val="20252B"/>
                </a:solidFill>
                <a:latin typeface="DejaVu Sans Mono"/>
              </a:defRPr>
            </a:pPr>
            <a:r>
              <a:t>web1 | SUCCESS =&gt; {</a:t>
            </a:r>
            <a:br/>
            <a:r>
              <a:t>    "changed": false,</a:t>
            </a:r>
            <a:br/>
            <a:r>
              <a:t>    "ping": "pong"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40690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SUCCESS und pong zeigen einen funktionierenden Ansible-Verbindungsweg.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10. Hosts und Gruppen ansprechen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417320"/>
            <a:ext cx="4937760" cy="338328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600">
                <a:solidFill>
                  <a:srgbClr val="20252B"/>
                </a:solidFill>
                <a:latin typeface="DejaVu Sans Mono"/>
              </a:defRPr>
            </a:pPr>
            <a:r>
              <a:t>ansible all -m ping</a:t>
            </a:r>
            <a:br/>
            <a:r>
              <a:t>ansible webservers -m ping</a:t>
            </a:r>
            <a:br/>
            <a:r>
              <a:t>ansible databases -m ping</a:t>
            </a:r>
            <a:br/>
            <a:r>
              <a:t>ansible linux -m ping</a:t>
            </a:r>
            <a:br/>
            <a:r>
              <a:t>ansible web1 -m 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5087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all – alle Hosts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webservers – web1 und web2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databases – db1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linux – alle drei Untergruppen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web1 – einzelner Host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11. systemd auf den Managed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Die Managed Nodes verwenden systemd als Init-System.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Dadurch können Dienste ähnlich wie auf klassischen Linux-Servern verwaltet werden.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Später kommt dafür insbesondere ansible.builtin.systemd_service zum Einsatz.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Die dafür notwendigen besonderen Docker-Berechtigungen gehören zur vorbereiteten Infrastruktur.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800600"/>
            <a:ext cx="10058400" cy="77724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600">
                <a:solidFill>
                  <a:srgbClr val="20252B"/>
                </a:solidFill>
                <a:latin typeface="DejaVu Sans Mono"/>
              </a:defRPr>
            </a:pPr>
            <a:r>
              <a:t>ansible all -b -m command -a "systemctl is-active ssh"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12. Docker und Ansible haben unterschiedliche Aufgaben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257800" cy="4709160"/>
          </a:xfrm>
          <a:prstGeom prst="roundRect">
            <a:avLst/>
          </a:prstGeom>
          <a:solidFill>
            <a:srgbClr val="F6F8FB"/>
          </a:solidFill>
          <a:ln>
            <a:solidFill>
              <a:srgbClr val="14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2763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345A"/>
                </a:solidFill>
              </a:defRPr>
            </a:pPr>
            <a:r>
              <a:t>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176272"/>
            <a:ext cx="4617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Startet die Container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Stellt die Linux-Systeme bereit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Stellt das gemeinsame Netzwerk bereit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Ermöglicht systemd in den Managed Nodes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257800" cy="4709160"/>
          </a:xfrm>
          <a:prstGeom prst="roundRect">
            <a:avLst/>
          </a:prstGeom>
          <a:solidFill>
            <a:srgbClr val="F6F8FB"/>
          </a:solidFill>
          <a:ln>
            <a:solidFill>
              <a:srgbClr val="1E7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62763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7841"/>
                </a:solidFill>
              </a:defRPr>
            </a:pPr>
            <a:r>
              <a:t>Ansible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248" y="2176272"/>
            <a:ext cx="4617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Installiert Pakete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Verändert Konfigurationsdateien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Verwaltet Benutzer und Gruppen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Startet und konfiguriert Dienste</a:t>
            </a:r>
          </a:p>
          <a:p>
            <a:pPr>
              <a:spcAft>
                <a:spcPts val="800"/>
              </a:spcAft>
              <a:defRPr sz="1700">
                <a:solidFill>
                  <a:srgbClr val="20252B"/>
                </a:solidFill>
              </a:defRPr>
            </a:pPr>
            <a:r>
              <a:t>Erzeugt die unterschiedlichen Serverrollen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Serverrollen entstehen durch Ansible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" y="1508760"/>
            <a:ext cx="10058400" cy="228600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800">
                <a:solidFill>
                  <a:srgbClr val="20252B"/>
                </a:solidFill>
                <a:latin typeface="DejaVu Sans Mono"/>
              </a:defRPr>
            </a:pPr>
            <a:r>
              <a:t>web1 ─┐</a:t>
            </a:r>
            <a:br/>
            <a:r>
              <a:t>      ├── Gruppe webservers ── Playbook ── Apache</a:t>
            </a:r>
            <a:br/>
            <a:r>
              <a:t>web2 ─┘</a:t>
            </a:r>
            <a:br/>
            <a:br/>
            <a:r>
              <a:t>db1 ─── Gruppe databases ───── Playbook ── Datenbank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297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Ein Webserver wird nicht durch manuelles Verändern des Docker-Images eingerichtet.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Die gewünschte Konfiguration wird mit Ansible beschrieben und auf die passende Inventory-Gruppe angewendet.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13. Änderungen während der Übungen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Die Managed Nodes sind bewusst veränderliche Trainingssysteme.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Im Verlauf werden Pakete installiert, Dateien verändert, Benutzer und Gruppen verwaltet sowie Dienste konfiguriert.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Der Zustand der Managed Nodes verändert sich dadurch von Übung zu Übung.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Die Ansible-Dateien unter /training bleiben als Arbeitsstand erhalten und werden fortlaufend weiterentwickelt.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14. Trainingsumgebung zurücksetzen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3657600" cy="73152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800">
                <a:solidFill>
                  <a:srgbClr val="20252B"/>
                </a:solidFill>
                <a:latin typeface="DejaVu Sans Mono"/>
              </a:defRPr>
            </a:pPr>
            <a:r>
              <a:t>./reset.sh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Die Container werden neu erzeugt.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Die SSH-Schlüssel bleiben erhalten und werden beim Build wieder verwendet.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Die Serverzustände können dadurch zurückgesetzt werden, ohne die SSH-Konfiguration neu aufzubauen.</a:t>
            </a:r>
          </a:p>
          <a:p>
            <a:pPr>
              <a:spcAft>
                <a:spcPts val="800"/>
              </a:spcAft>
              <a:defRPr sz="1800">
                <a:solidFill>
                  <a:srgbClr val="20252B"/>
                </a:solidFill>
              </a:defRPr>
            </a:pPr>
            <a:r>
              <a:t>Sinnvoll vor einem neuen Trainingsblock, nach Experimenten oder zum Wiederholen einer Übung.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15. Nützliche Docker-Kommandos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10058400" cy="384048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700">
                <a:solidFill>
                  <a:srgbClr val="20252B"/>
                </a:solidFill>
                <a:latin typeface="DejaVu Sans Mono"/>
              </a:defRPr>
            </a:pPr>
            <a:r>
              <a:t>docker compose ps</a:t>
            </a:r>
            <a:br/>
            <a:br/>
            <a:r>
              <a:t>docker compose exec control bash</a:t>
            </a:r>
            <a:br/>
            <a:br/>
            <a:r>
              <a:t>docker compose exec web1 bash</a:t>
            </a:r>
            <a:br/>
            <a:br/>
            <a:r>
              <a:t>docker compose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Nützliche Ansible-Kommandos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10058400" cy="4114800"/>
          </a:xfrm>
          <a:prstGeom prst="roundRect">
            <a:avLst/>
          </a:prstGeom>
          <a:solidFill>
            <a:srgbClr val="F1F4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28016"/>
          <a:lstStyle/>
          <a:p>
            <a:pPr algn="ctr">
              <a:defRPr sz="1700">
                <a:solidFill>
                  <a:srgbClr val="20252B"/>
                </a:solidFill>
                <a:latin typeface="DejaVu Sans Mono"/>
              </a:defRPr>
            </a:pPr>
            <a:r>
              <a:t>ansible all -m ping</a:t>
            </a:r>
            <a:br/>
            <a:r>
              <a:t>ansible-inventory --graph</a:t>
            </a:r>
            <a:br/>
            <a:r>
              <a:t>ansible all -m command -a "hostname"</a:t>
            </a:r>
            <a:br/>
            <a:r>
              <a:t>ansible all -b -m command -a "id"</a:t>
            </a:r>
            <a:br/>
            <a:r>
              <a:t>ansible-playbook playbooks/00-ping.yml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45A"/>
                </a:solidFill>
              </a:defRPr>
            </a:pPr>
            <a:r>
              <a:t>16. 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Docker stellt eine kleine reproduzierbare Linux-Infrastruktur bereit.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control ist der zentrale Arbeitsplatz für die Ansible-Übungen.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web1, web2, db1 und misc1 werden über SSH verwaltet.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Das Inventory strukturiert Hosts und Gruppen.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systemd ermöglicht realitätsnahe Übungen zur Dienstverwaltung.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Ansible erzeugt aus weitgehend gleichen Managed Nodes unterschiedliche Serverrollen.</a:t>
            </a:r>
          </a:p>
          <a:p>
            <a:pPr>
              <a:spcAft>
                <a:spcPts val="800"/>
              </a:spcAft>
              <a:defRPr sz="1900">
                <a:solidFill>
                  <a:srgbClr val="20252B"/>
                </a:solidFill>
              </a:defRPr>
            </a:pPr>
            <a:r>
              <a:t>Die Umgebung bildet die gemeinsame Basis für die folgenden Trainingsblöcke.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66597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